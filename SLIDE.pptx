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jp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3716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3000" b="1" i="0">
                <a:solidFill>
                  <a:srgbClr val="111111"/>
                </a:solidFill>
                <a:latin typeface="Calibri"/>
              </a:rPr>
              <a:t>Human Reward Model — Track 3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  Does the demo succeed? Ask the VLM's logits, not its words — and check it against geometry.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749807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250" b="1" i="0">
                <a:solidFill>
                  <a:srgbClr val="1982C4"/>
                </a:solidFill>
                <a:latin typeface="Calibri"/>
              </a:rPr>
              <a:t>MAIN RESULT — A FAILURE AUDIT OF 50 HUMAN CUP-ON-SAUCER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43584"/>
            <a:ext cx="7498079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050" b="1" i="0">
                <a:solidFill>
                  <a:srgbClr val="111111"/>
                </a:solidFill>
                <a:latin typeface="Calibri"/>
              </a:rPr>
              <a:t>Success = the cup ends up on the saucer. </a:t>
            </a:r>
            <a:r>
              <a:rPr sz="1050" b="0" i="0">
                <a:solidFill>
                  <a:srgbClr val="555555"/>
                </a:solidFill>
                <a:latin typeface="Calibri"/>
              </a:rPr>
              <a:t>No labels exist for these clips: four independent signals, every one run on every clip, fused per episode. Zero training, zero new labels, all on Modal.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749808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566160"/>
                <a:gridCol w="822960"/>
                <a:gridCol w="731520"/>
              </a:tblGrid>
              <a:tr h="237744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555555"/>
                          </a:solidFill>
                        </a:rPr>
                        <a:t>Signal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555555"/>
                          </a:solidFill>
                        </a:rPr>
                        <a:t>How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555555"/>
                          </a:solidFill>
                        </a:rPr>
                        <a:t>Success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555555"/>
                          </a:solidFill>
                        </a:rPr>
                        <a:t>Failure prev.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11111"/>
                          </a:solidFill>
                        </a:rPr>
                        <a:t>SAM 3 geometry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11111"/>
                          </a:solidFill>
                        </a:rPr>
                        <a:t>text-prompted cup/saucer masks; cup centroid in saucer box at the end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11111"/>
                          </a:solidFill>
                        </a:rPr>
                        <a:t>36/50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11111"/>
                          </a:solidFill>
                        </a:rPr>
                        <a:t>28%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11111"/>
                          </a:solidFill>
                        </a:rPr>
                        <a:t>Qwen3-VL-8B · PaliGemma2-3B · Cosmos-R2-8B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11111"/>
                          </a:solidFill>
                        </a:rPr>
                        <a:t>p("Yes") from logits to "is the cup resting on the saucer?", last quarter, 3 fps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11111"/>
                          </a:solidFill>
                        </a:rPr>
                        <a:t>33 · 41 · 37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11111"/>
                          </a:solidFill>
                        </a:rPr>
                        <a:t>34 · 18 · 26%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11111"/>
                          </a:solidFill>
                        </a:rPr>
                        <a:t>Fused = mean(SEG, mean of VLMs)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11111"/>
                          </a:solidFill>
                        </a:rPr>
                        <a:t>geometry and language weighted equally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11111"/>
                          </a:solidFill>
                        </a:rPr>
                        <a:t>34/50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11111"/>
                          </a:solidFill>
                        </a:rPr>
                        <a:t>32%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43200"/>
            <a:ext cx="7498079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050" b="1" i="0">
                <a:solidFill>
                  <a:srgbClr val="111111"/>
                </a:solidFill>
                <a:latin typeface="Calibri"/>
              </a:rPr>
              <a:t>26/50 unanimous</a:t>
            </a:r>
            <a:r>
              <a:rPr sz="1050" b="0" i="0">
                <a:solidFill>
                  <a:srgbClr val="555555"/>
                </a:solidFill>
                <a:latin typeface="Calibri"/>
              </a:rPr>
              <a:t> across all four signals · 37/50 with ≥3 of 4 · 6 split 2–2. Geometry (28%) and language (32%) land on the same prevalence; 1 fps vs 3 fps sampling changes 1 verdict of 50.</a:t>
            </a:r>
          </a:p>
        </p:txBody>
      </p:sp>
      <p:pic>
        <p:nvPicPr>
          <p:cNvPr id="7" name="Picture 6" descr="unanimous_success_692e98927641010d04354574_e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1810512" cy="10184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480560"/>
            <a:ext cx="18105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0">
                <a:solidFill>
                  <a:srgbClr val="555555"/>
                </a:solidFill>
                <a:latin typeface="Calibri"/>
              </a:rPr>
              <a:t>✅ unanimous — SEG 1.00 · VLMs .87/.81/.96. SAM 3 tracks hand, cup, saucer at 10 fps.</a:t>
            </a:r>
          </a:p>
        </p:txBody>
      </p:sp>
      <p:pic>
        <p:nvPicPr>
          <p:cNvPr id="9" name="Picture 8" descr="unanimous_failure_2026-01-11-23-11-22-998000_e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152" y="3108960"/>
            <a:ext cx="1810512" cy="13578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59152" y="4480560"/>
            <a:ext cx="18105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0">
                <a:solidFill>
                  <a:srgbClr val="555555"/>
                </a:solidFill>
                <a:latin typeface="Calibri"/>
              </a:rPr>
              <a:t>❌ unanimous — SEG 0.00 · VLMs .00/.07/.00</a:t>
            </a:r>
          </a:p>
        </p:txBody>
      </p:sp>
      <p:pic>
        <p:nvPicPr>
          <p:cNvPr id="11" name="Picture 10" descr="disputed_seg_yes_vlm_split_692ea3beffdc0ca6345c4246_en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104" y="3108960"/>
            <a:ext cx="1810512" cy="10184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61104" y="4480560"/>
            <a:ext cx="18105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0">
                <a:solidFill>
                  <a:srgbClr val="555555"/>
                </a:solidFill>
                <a:latin typeface="Calibri"/>
              </a:rPr>
              <a:t>SEG 1.00, VLMs .74/.46/.63 → ✅ 3/4 — a 2–2 split at 1 fps that 3 fps resolved toward geometry</a:t>
            </a:r>
          </a:p>
        </p:txBody>
      </p:sp>
      <p:pic>
        <p:nvPicPr>
          <p:cNvPr id="13" name="Picture 12" descr="cup50_qwen_692e98927641010d04354574_meter_en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3108960"/>
            <a:ext cx="1810512" cy="1199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63056" y="4480560"/>
            <a:ext cx="18105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0">
                <a:solidFill>
                  <a:srgbClr val="555555"/>
                </a:solidFill>
                <a:latin typeface="Calibri"/>
              </a:rPr>
              <a:t>the confidence meter: p(cup on saucer) per frame from Qwen logits, bar + sparkline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74920"/>
            <a:ext cx="365760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3566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50" b="1" i="0">
                <a:solidFill>
                  <a:srgbClr val="1982C4"/>
                </a:solidFill>
                <a:latin typeface="Calibri"/>
              </a:rPr>
              <a:t>SIDE EXPERIMENT · LABELLED ROBOT SLICE (VALIDATION)</a:t>
            </a:r>
          </a:p>
        </p:txBody>
      </p:sp>
      <p:pic>
        <p:nvPicPr>
          <p:cNvPr id="17" name="Picture 16" descr="eva_r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440680"/>
            <a:ext cx="1325880" cy="132588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965960" y="5440680"/>
          <a:ext cx="210312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57200"/>
                <a:gridCol w="548640"/>
              </a:tblGrid>
              <a:tr h="237744">
                <a:tc>
                  <a:txBody>
                    <a:bodyPr/>
                    <a:lstStyle/>
                    <a:p>
                      <a:r>
                        <a:rPr b="1" sz="750">
                          <a:solidFill>
                            <a:srgbClr val="555555"/>
                          </a:solidFill>
                        </a:rPr>
                        <a:t>eva 10/10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750">
                          <a:solidFill>
                            <a:srgbClr val="555555"/>
                          </a:solidFill>
                        </a:rPr>
                        <a:t>acc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750">
                          <a:solidFill>
                            <a:srgbClr val="555555"/>
                          </a:solidFill>
                        </a:rPr>
                        <a:t>AUROC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b="0" sz="850">
                          <a:solidFill>
                            <a:srgbClr val="111111"/>
                          </a:solidFill>
                        </a:rPr>
                        <a:t>VLM p(done)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50">
                          <a:solidFill>
                            <a:srgbClr val="111111"/>
                          </a:solidFill>
                        </a:rPr>
                        <a:t>0.70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50">
                          <a:solidFill>
                            <a:srgbClr val="111111"/>
                          </a:solidFill>
                        </a:rPr>
                        <a:t>0.83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b="0" sz="850">
                          <a:solidFill>
                            <a:srgbClr val="111111"/>
                          </a:solidFill>
                        </a:rPr>
                        <a:t>SAM 3 cup-in-saucer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50">
                          <a:solidFill>
                            <a:srgbClr val="111111"/>
                          </a:solidFill>
                        </a:rPr>
                        <a:t>0.70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50">
                          <a:solidFill>
                            <a:srgbClr val="111111"/>
                          </a:solidFill>
                        </a:rPr>
                        <a:t>0.64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b="0" sz="850">
                          <a:solidFill>
                            <a:srgbClr val="111111"/>
                          </a:solidFill>
                        </a:rPr>
                        <a:t>Fused + gripper veto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50">
                          <a:solidFill>
                            <a:srgbClr val="111111"/>
                          </a:solidFill>
                        </a:rPr>
                        <a:t>0.70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50">
                          <a:solidFill>
                            <a:srgbClr val="111111"/>
                          </a:solidFill>
                        </a:rPr>
                        <a:t>0.74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6812280"/>
            <a:ext cx="35204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Gripper proprioception too: zero slips in all 10 failures — failures are hesitation, not drops.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5074920"/>
            <a:ext cx="365760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5120640"/>
            <a:ext cx="3566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50" b="1" i="0">
                <a:solidFill>
                  <a:srgbClr val="1982C4"/>
                </a:solidFill>
                <a:latin typeface="Calibri"/>
              </a:rPr>
              <a:t>SIDE EXPERIMENT · ONE 2-MIN EGOCENTRIC VIDEO, SPLIT</a:t>
            </a:r>
          </a:p>
        </p:txBody>
      </p:sp>
      <p:pic>
        <p:nvPicPr>
          <p:cNvPr id="22" name="Picture 21" descr="2025-11-24-23-59-28-546000_overlay_60pc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5440680"/>
            <a:ext cx="1737360" cy="13030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72200" y="5440680"/>
            <a:ext cx="173736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111111"/>
                </a:solidFill>
                <a:latin typeface="Calibri"/>
              </a:rPr>
              <a:t>Aria head-cam: both hands, cup, saucer tracked by SAM 3. Segment on cup rests </a:t>
            </a:r>
            <a:r>
              <a:rPr sz="900" b="0" i="1">
                <a:solidFill>
                  <a:srgbClr val="111111"/>
                </a:solidFill>
                <a:latin typeface="Calibri"/>
              </a:rPr>
              <a:t>relative to the saucer</a:t>
            </a:r>
            <a:r>
              <a:rPr sz="900" b="0" i="0">
                <a:solidFill>
                  <a:srgbClr val="111111"/>
                </a:solidFill>
                <a:latin typeface="Calibri"/>
              </a:rPr>
              <a:t> (head motion cancels): </a:t>
            </a:r>
            <a:r>
              <a:rPr sz="900" b="1" i="0">
                <a:solidFill>
                  <a:srgbClr val="111111"/>
                </a:solidFill>
                <a:latin typeface="Calibri"/>
              </a:rPr>
              <a:t>25 attempts → 16 success / 9 failure</a:t>
            </a:r>
            <a:r>
              <a:rPr sz="900" b="0" i="0">
                <a:solidFill>
                  <a:srgbClr val="111111"/>
                </a:solidFill>
                <a:latin typeface="Calibri"/>
              </a:rPr>
              <a:t>, 16 returns not counted.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96012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250" b="1" i="0">
                <a:solidFill>
                  <a:srgbClr val="1982C4"/>
                </a:solidFill>
                <a:latin typeface="Calibri"/>
              </a:rPr>
              <a:t>JUDGING CRITERIA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243584"/>
            <a:ext cx="288036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280160"/>
            <a:ext cx="278892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200" b="1" i="0">
                <a:solidFill>
                  <a:srgbClr val="111111"/>
                </a:solidFill>
                <a:latin typeface="Calibri"/>
              </a:rPr>
              <a:t>✅ Does it run?</a:t>
            </a:r>
          </a:p>
          <a:p>
            <a:pPr>
              <a:lnSpc>
                <a:spcPct val="110000"/>
              </a:lnSpc>
            </a:pPr>
            <a:r>
              <a:rPr sz="950" b="0" i="0">
                <a:solidFill>
                  <a:srgbClr val="111111"/>
                </a:solidFill>
                <a:latin typeface="Calibri"/>
              </a:rPr>
              <a:t>Every number here came out of a modal run in the repo today: 5 Modal apps, 3 VLMs × all 50 human clips, 20 robot episodes, 20 aria episodes. Overlay &amp; meter videos in demo/; graphs, ROC, per-episode verdicts regenerated by one script in results/.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338560" y="1243584"/>
            <a:ext cx="288036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84280" y="1280160"/>
            <a:ext cx="278892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200" b="1" i="0">
                <a:solidFill>
                  <a:srgbClr val="111111"/>
                </a:solidFill>
                <a:latin typeface="Calibri"/>
              </a:rPr>
              <a:t>✅ Is it defensible?</a:t>
            </a:r>
          </a:p>
          <a:p>
            <a:pPr>
              <a:lnSpc>
                <a:spcPct val="110000"/>
              </a:lnSpc>
            </a:pPr>
            <a:r>
              <a:rPr sz="950" b="0" i="0">
                <a:solidFill>
                  <a:srgbClr val="111111"/>
                </a:solidFill>
                <a:latin typeface="Calibri"/>
              </a:rPr>
              <a:t>Every choice has a check: gripper polarity verified on the wrist cam; arm frames verified by projecting onto the image; the model's actual top-5 tokens logged on every trace; thresholds fixed at 0.5, AUROC threshold-free; both scoring windows shown; disputed clips published, not hidden.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06324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250" b="1" i="0">
                <a:solidFill>
                  <a:srgbClr val="1982C4"/>
                </a:solidFill>
                <a:latin typeface="Calibri"/>
              </a:rPr>
              <a:t>WHAT WE LEARNED (AND CAN PROVE)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346704"/>
            <a:ext cx="589788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</a:pPr>
            <a:r>
              <a:rPr sz="1000" b="1" i="0">
                <a:solidFill>
                  <a:srgbClr val="111111"/>
                </a:solidFill>
                <a:latin typeface="Calibri"/>
              </a:rPr>
              <a:t>1. Ask about the goal state, not "was the task completed?" </a:t>
            </a:r>
            <a:r>
              <a:rPr sz="1000" b="0" i="0">
                <a:solidFill>
                  <a:srgbClr val="111111"/>
                </a:solidFill>
                <a:latin typeface="Calibri"/>
              </a:rPr>
              <a:t>Unanswerable from one frame — p(yes) sat at 10⁻⁴ everywhere while the ranking still worked (AUROC 0.73 → 0.83 after the fix). Smaller model, more literal question: PaliGemma hedged (0.28–0.65) on the generic prompt, decisive (0.07–0.97) on "is the cup resting on the saucer?". Only visible because we read logits.</a:t>
            </a:r>
          </a:p>
          <a:p>
            <a:pPr>
              <a:lnSpc>
                <a:spcPct val="108000"/>
              </a:lnSpc>
            </a:pPr>
            <a:r>
              <a:rPr sz="1000" b="1" i="0">
                <a:solidFill>
                  <a:srgbClr val="111111"/>
                </a:solidFill>
                <a:latin typeface="Calibri"/>
              </a:rPr>
              <a:t>2. Geometry and language disagree in useful ways. </a:t>
            </a:r>
            <a:r>
              <a:rPr sz="1000" b="0" i="0">
                <a:solidFill>
                  <a:srgbClr val="111111"/>
                </a:solidFill>
                <a:latin typeface="Calibri"/>
              </a:rPr>
              <a:t>The two clips split at 1 fps both resolved toward the geometry at 3 fps — sampling density matters for the VLMs, not for SEG. Equal weighting means neither signal can outvote the other alone.</a:t>
            </a:r>
          </a:p>
          <a:p>
            <a:pPr>
              <a:lnSpc>
                <a:spcPct val="108000"/>
              </a:lnSpc>
            </a:pPr>
            <a:r>
              <a:rPr sz="1000" b="1" i="0">
                <a:solidFill>
                  <a:srgbClr val="111111"/>
                </a:solidFill>
                <a:latin typeface="Calibri"/>
              </a:rPr>
              <a:t>3. The unit of evaluation must match the video. </a:t>
            </a:r>
            <a:r>
              <a:rPr sz="1000" b="0" i="0">
                <a:solidFill>
                  <a:srgbClr val="111111"/>
                </a:solidFill>
                <a:latin typeface="Calibri"/>
              </a:rPr>
              <a:t>A cup50 clip is one attempt — score its end. An aria episode is 25 attempts — segment first (cup speed relative to the saucer), then score each.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5440680"/>
            <a:ext cx="5897880" cy="9144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5468112"/>
            <a:ext cx="580644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111111"/>
                </a:solidFill>
                <a:latin typeface="Calibri"/>
              </a:rPr>
              <a:t>Why it scales to the prevalence problem</a:t>
            </a:r>
          </a:p>
          <a:p>
            <a:pPr>
              <a:lnSpc>
                <a:spcPct val="110000"/>
              </a:lnSpc>
            </a:pPr>
            <a:r>
              <a:rPr sz="950" b="0" i="0">
                <a:solidFill>
                  <a:srgbClr val="111111"/>
                </a:solidFill>
                <a:latin typeface="Calibri"/>
              </a:rPr>
              <a:t>SAM 3 is text-prompted from the task description — no per-episode human seeding. VLM is one batched forward pass per sampled frame (16/pass, H100): 50 clips × 3 models in minutes. A full-dataset sweep is a .map() with per-stage GPUs.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7680960"/>
            <a:ext cx="7315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555555"/>
                </a:solidFill>
                <a:latin typeface="Consolas"/>
              </a:rPr>
              <a:t>github.com/AungKMin/modal-robotics-hackathon  ·  README → results/ → demo/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7680960"/>
            <a:ext cx="6400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SAM 3 · Qwen3-VL-8B · Cosmos-Reason2-8B · PaliGemma 2 · Modal</a:t>
            </a:r>
          </a:p>
        </p:txBody>
      </p:sp>
      <p:pic>
        <p:nvPicPr>
          <p:cNvPr id="37" name="Picture 36" descr="prevalenc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6446520"/>
            <a:ext cx="2103120" cy="1051560"/>
          </a:xfrm>
          <a:prstGeom prst="rect">
            <a:avLst/>
          </a:prstGeom>
        </p:spPr>
      </p:pic>
      <p:pic>
        <p:nvPicPr>
          <p:cNvPr id="38" name="Picture 37" descr="agreement_cup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07240" y="6446520"/>
            <a:ext cx="1183005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