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2000"/>
              </a:lnSpc>
            </a:pPr>
            <a:r>
              <a:rPr sz="3000" b="1" i="0">
                <a:solidFill>
                  <a:srgbClr val="111111"/>
                </a:solidFill>
                <a:latin typeface="Calibri"/>
              </a:rPr>
              <a:t>Human Reward Model — Track 3</a:t>
            </a:r>
            <a:r>
              <a:rPr sz="1600" b="0" i="0">
                <a:solidFill>
                  <a:srgbClr val="555555"/>
                </a:solidFill>
                <a:latin typeface="Calibri"/>
              </a:rPr>
              <a:t>   Does the demo succeed? Ask the VLM's logits, not its words.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69494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2000"/>
              </a:lnSpc>
            </a:pPr>
            <a:r>
              <a:rPr sz="1250" b="1" i="0">
                <a:solidFill>
                  <a:srgbClr val="1982C4"/>
                </a:solidFill>
                <a:latin typeface="Calibri"/>
              </a:rPr>
              <a:t>DELIVERABLES — ALL THREE, ALL RUNNING (MODAL RUN)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98448"/>
          <a:ext cx="69494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486400"/>
              </a:tblGrid>
              <a:tr h="256032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555555"/>
                          </a:solidFill>
                        </a:rPr>
                        <a:t>Track 3 asks for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555555"/>
                          </a:solidFill>
                        </a:rPr>
                        <a:t>We ship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Tagged episodes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success/failure per episode from per-frame p(cup on saucer) read from Qwen3-VL / Cosmos-Reason2 / PaliGemma logits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Confidence meter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the p(done) curve itself, rendered as a video per episode (bar + sparkline)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Prevalence audit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SAM 3 + 3 VLMs on all 50 human clips → 30% failure (27/50 unanimous)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788920"/>
            <a:ext cx="69494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2000"/>
              </a:lnSpc>
            </a:pPr>
            <a:r>
              <a:rPr sz="1250" b="1" i="0">
                <a:solidFill>
                  <a:srgbClr val="1982C4"/>
                </a:solidFill>
                <a:latin typeface="Calibri"/>
              </a:rPr>
              <a:t>LABELLED ROBOT SLICE — 20 EPISODES, 10 / 10</a:t>
            </a:r>
          </a:p>
        </p:txBody>
      </p:sp>
      <p:pic>
        <p:nvPicPr>
          <p:cNvPr id="6" name="Picture 5" descr="eva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08960"/>
            <a:ext cx="2011680" cy="20116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651760" y="3154680"/>
          <a:ext cx="475488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31520"/>
                <a:gridCol w="914400"/>
              </a:tblGrid>
              <a:tr h="256032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555555"/>
                          </a:solidFill>
                        </a:rPr>
                        <a:t>Signal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555555"/>
                          </a:solidFill>
                        </a:rPr>
                        <a:t>Acc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555555"/>
                          </a:solidFill>
                        </a:rPr>
                        <a:t>AUROC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VLM p(done), last quarter (Qwen3-VL-8B)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50">
                          <a:solidFill>
                            <a:srgbClr val="111111"/>
                          </a:solidFill>
                        </a:rPr>
                        <a:t>0.83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SAM 3 cup-in-saucer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0.64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Fused + gripper veto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0.70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0.74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651760" y="4297680"/>
            <a:ext cx="47548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2000"/>
              </a:lnSpc>
            </a:pPr>
            <a:r>
              <a:rPr sz="1050" b="0" i="0">
                <a:solidFill>
                  <a:srgbClr val="555555"/>
                </a:solidFill>
                <a:latin typeface="Calibri"/>
              </a:rPr>
              <a:t>No training, no new labels. Same critic on human egocentric video with only the prompts changed.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57800"/>
            <a:ext cx="69494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2000"/>
              </a:lnSpc>
            </a:pPr>
            <a:r>
              <a:rPr sz="1250" b="1" i="0">
                <a:solidFill>
                  <a:srgbClr val="1982C4"/>
                </a:solidFill>
                <a:latin typeface="Calibri"/>
              </a:rPr>
              <a:t>UNLABELLED HUMAN VIDEO — 50 CLIPS × 4 SIGNALS, ONE CODE PATH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5559552"/>
          <a:ext cx="69494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737360"/>
                <a:gridCol w="1737360"/>
              </a:tblGrid>
              <a:tr h="256032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555555"/>
                          </a:solidFill>
                        </a:rPr>
                        <a:t>Signal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555555"/>
                          </a:solidFill>
                        </a:rPr>
                        <a:t>Tagged success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555555"/>
                          </a:solidFill>
                        </a:rPr>
                        <a:t>Failure prevalence</a:t>
                      </a:r>
                    </a:p>
                  </a:txBody>
                  <a:tcPr marL="45720" marR="45720" marT="18288" marB="18288">
                    <a:solidFill>
                      <a:srgbClr val="F7F9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SAM 3 cup-in-saucer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36/50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28%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Qwen3-VL-8B · PaliGemma2-3B · Cosmos-Reason2-8B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39 · 42 · 34 /50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050">
                          <a:solidFill>
                            <a:srgbClr val="111111"/>
                          </a:solidFill>
                        </a:rPr>
                        <a:t>22 · 16 · 32%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b="1" sz="1050">
                          <a:solidFill>
                            <a:srgbClr val="111111"/>
                          </a:solidFill>
                        </a:rPr>
                        <a:t>Fused = mean(SEG, mean of VLMs)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50">
                          <a:solidFill>
                            <a:srgbClr val="111111"/>
                          </a:solidFill>
                        </a:rPr>
                        <a:t>35/50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50">
                          <a:solidFill>
                            <a:srgbClr val="111111"/>
                          </a:solidFill>
                        </a:rPr>
                        <a:t>30%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629400"/>
            <a:ext cx="69494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2000"/>
              </a:lnSpc>
            </a:pPr>
            <a:r>
              <a:rPr sz="1050" b="0" i="0">
                <a:solidFill>
                  <a:srgbClr val="555555"/>
                </a:solidFill>
                <a:latin typeface="Calibri"/>
              </a:rPr>
              <a:t>27/50 unanimous across all four signals, 37/50 with ≥3 of 4, 6 split 2–2. One 2-min aria video split into 25 attempts → 16 success / 9 failure.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005840"/>
            <a:ext cx="64008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2000"/>
              </a:lnSpc>
            </a:pPr>
            <a:r>
              <a:rPr sz="1250" b="1" i="0">
                <a:solidFill>
                  <a:srgbClr val="1982C4"/>
                </a:solidFill>
                <a:latin typeface="Calibri"/>
              </a:rPr>
              <a:t>JUDGING CRITERIA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1298448"/>
            <a:ext cx="301752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1344168"/>
            <a:ext cx="2926080" cy="1783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2000"/>
              </a:lnSpc>
            </a:pPr>
            <a:r>
              <a:rPr sz="1300" b="1" i="0">
                <a:solidFill>
                  <a:srgbClr val="111111"/>
                </a:solidFill>
                <a:latin typeface="Calibri"/>
              </a:rPr>
              <a:t>✅ Does it run?</a:t>
            </a:r>
          </a:p>
          <a:p>
            <a:pPr>
              <a:lnSpc>
                <a:spcPct val="112000"/>
              </a:lnSpc>
            </a:pPr>
            <a:r>
              <a:rPr sz="1050" b="0" i="0">
                <a:solidFill>
                  <a:srgbClr val="111111"/>
                </a:solidFill>
                <a:latin typeface="Calibri"/>
              </a:rPr>
              <a:t>Every number here came out of a modal run in the repo today: 5 Modal apps, 3 datasets, 3 VLMs × all 50 human clips + 20 robot episodes. Overlay &amp; meter videos in demo/; graphs, ROC, per-episode verdicts regenerated by one script in results/.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018520" y="1298448"/>
            <a:ext cx="301752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0" y="1344168"/>
            <a:ext cx="2926080" cy="1783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2000"/>
              </a:lnSpc>
            </a:pPr>
            <a:r>
              <a:rPr sz="1300" b="1" i="0">
                <a:solidFill>
                  <a:srgbClr val="111111"/>
                </a:solidFill>
                <a:latin typeface="Calibri"/>
              </a:rPr>
              <a:t>✅ Is it defensible?</a:t>
            </a:r>
          </a:p>
          <a:p>
            <a:pPr>
              <a:lnSpc>
                <a:spcPct val="112000"/>
              </a:lnSpc>
            </a:pPr>
            <a:r>
              <a:rPr sz="1050" b="0" i="0">
                <a:solidFill>
                  <a:srgbClr val="111111"/>
                </a:solidFill>
                <a:latin typeface="Calibri"/>
              </a:rPr>
              <a:t>Every choice has a check behind it: gripper polarity verified on the wrist cam; arm frames verified by projecting onto the image; the model's actual top-5 tokens logged on every trace; thresholds fixed at 0.5, AUROC threshold-free; both scoring windows shown for every set.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3291840"/>
            <a:ext cx="64008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2000"/>
              </a:lnSpc>
            </a:pPr>
            <a:r>
              <a:rPr sz="1250" b="1" i="0">
                <a:solidFill>
                  <a:srgbClr val="1982C4"/>
                </a:solidFill>
                <a:latin typeface="Calibri"/>
              </a:rPr>
              <a:t>WHAT WE LEARNED (AND CAN PROVE)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611880"/>
            <a:ext cx="630936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0000"/>
              </a:lnSpc>
            </a:pPr>
            <a:r>
              <a:rPr sz="1100" b="1" i="0">
                <a:solidFill>
                  <a:srgbClr val="111111"/>
                </a:solidFill>
                <a:latin typeface="Calibri"/>
              </a:rPr>
              <a:t>1. Ask about the goal state, not "was the task completed?" </a:t>
            </a:r>
            <a:r>
              <a:rPr sz="1100" b="0" i="0">
                <a:solidFill>
                  <a:srgbClr val="111111"/>
                </a:solidFill>
                <a:latin typeface="Calibri"/>
              </a:rPr>
              <a:t>Unanswerable from one frame — p(yes) sat at 10⁻⁴ everywhere while the ranking still worked (AUROC 0.73 → 0.83 after the fix). Smaller model, more literal question: PaliGemma hedged (0.28–0.65) on the generic prompt, decisive (0.07–0.97) on "is the cup resting on the saucer?". Only visible because we read logits.</a:t>
            </a:r>
          </a:p>
          <a:p>
            <a:pPr>
              <a:lnSpc>
                <a:spcPct val="110000"/>
              </a:lnSpc>
            </a:pPr>
            <a:r>
              <a:rPr sz="1100" b="1" i="0">
                <a:solidFill>
                  <a:srgbClr val="111111"/>
                </a:solidFill>
                <a:latin typeface="Calibri"/>
              </a:rPr>
              <a:t>2. Robot failures here are not drops. </a:t>
            </a:r>
            <a:r>
              <a:rPr sz="1100" b="0" i="0">
                <a:solidFill>
                  <a:srgbClr val="111111"/>
                </a:solidFill>
                <a:latin typeface="Calibri"/>
              </a:rPr>
              <a:t>Zero gripper slips across all 10 failures; hesitation — off-hand speed, dominant-arm path length — separates the classes. Geometry flags, VLM adjudicates.</a:t>
            </a:r>
          </a:p>
          <a:p>
            <a:pPr>
              <a:lnSpc>
                <a:spcPct val="110000"/>
              </a:lnSpc>
            </a:pPr>
            <a:r>
              <a:rPr sz="1100" b="1" i="0">
                <a:solidFill>
                  <a:srgbClr val="111111"/>
                </a:solidFill>
                <a:latin typeface="Calibri"/>
              </a:rPr>
              <a:t>3. The unit of evaluation must match the video. </a:t>
            </a:r>
            <a:r>
              <a:rPr sz="1100" b="0" i="0">
                <a:solidFill>
                  <a:srgbClr val="111111"/>
                </a:solidFill>
                <a:latin typeface="Calibri"/>
              </a:rPr>
              <a:t>A cup50 clip is one attempt — score its end. An aria episode is 25 attempts — segment first (cup speed relative to the saucer, so head motion cancels), then score each.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6172200"/>
            <a:ext cx="6309360" cy="1234440"/>
          </a:xfrm>
          <a:prstGeom prst="rect">
            <a:avLst/>
          </a:prstGeom>
          <a:solidFill>
            <a:srgbClr val="FAFAFA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6217920"/>
            <a:ext cx="621792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2000"/>
              </a:lnSpc>
            </a:pPr>
            <a:r>
              <a:rPr sz="1200" b="1" i="0">
                <a:solidFill>
                  <a:srgbClr val="111111"/>
                </a:solidFill>
                <a:latin typeface="Calibri"/>
              </a:rPr>
              <a:t>Why it scales to the prevalence problem</a:t>
            </a:r>
          </a:p>
          <a:p>
            <a:pPr>
              <a:lnSpc>
                <a:spcPct val="112000"/>
              </a:lnSpc>
            </a:pPr>
            <a:r>
              <a:rPr sz="1050" b="0" i="0">
                <a:solidFill>
                  <a:srgbClr val="111111"/>
                </a:solidFill>
                <a:latin typeface="Calibri"/>
              </a:rPr>
              <a:t>Geometric track is CPU — the whole slice in seconds. SAM 3 is text-prompted from the task description, so no per-episode human seeding. VLM is one batched forward pass per sampled frame (16/pass, H100): 50 clips × 3 models in minutes. A full-dataset sweep is a .map() with per-stage GPUs.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763524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2000"/>
              </a:lnSpc>
            </a:pPr>
            <a:r>
              <a:rPr sz="1050" b="0" i="0">
                <a:solidFill>
                  <a:srgbClr val="555555"/>
                </a:solidFill>
                <a:latin typeface="Consolas"/>
              </a:rPr>
              <a:t>github.com/AungKMin/modal-robotics-hackathon  ·  README → results/ → demo/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763524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12000"/>
              </a:lnSpc>
            </a:pPr>
            <a:r>
              <a:rPr sz="1050" b="0" i="0">
                <a:solidFill>
                  <a:srgbClr val="555555"/>
                </a:solidFill>
                <a:latin typeface="Calibri"/>
              </a:rPr>
              <a:t>SAM 3 · Qwen3-VL-8B · Cosmos-Reason2-8B · PaliGemma 2 · Modal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