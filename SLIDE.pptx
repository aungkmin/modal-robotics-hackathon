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3716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Human Reward Model — Track 3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  Does the demo succeed? Ask the VLM's logits, not its words — and check it against geometry.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7498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MAIN RESULT — A FAILURE AUDIT OF 50 HUMAN CUP-ON-SAUCER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43584"/>
            <a:ext cx="7498079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111111"/>
                </a:solidFill>
                <a:latin typeface="Calibri"/>
              </a:rPr>
              <a:t>Success = the cup ends up on the saucer. 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No labels exist for these clips: four independent signals, every one run on every clip, fused per episode. Zero training, zero new labels, all on Modal.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74980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822960"/>
                <a:gridCol w="731520"/>
              </a:tblGrid>
              <a:tr h="237744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Signal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How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Success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Failure prev.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SAM 3 geometry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text-prompted cup/saucer masks; cup centroid in saucer box at the 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36/50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28%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Qwen3-VL-8B · PaliGemma2-3B · Cosmos-R2-8B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p("Yes") from logits to "is the cup resting on the saucer?", last quarter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39 · 42 · 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22 · 16 · 32%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Fused = mean(SEG, mean of VLMs)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geometry and language weighted equally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35/50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30%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43200"/>
            <a:ext cx="749807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111111"/>
                </a:solidFill>
                <a:latin typeface="Calibri"/>
              </a:rPr>
              <a:t>27/50 unanimous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 across all four signals · 37/50 with ≥3 of 4 · 6 split 2–2. Geometry (28%) and language (30%) land on the same prevalence.</a:t>
            </a:r>
          </a:p>
        </p:txBody>
      </p:sp>
      <p:pic>
        <p:nvPicPr>
          <p:cNvPr id="7" name="Picture 6" descr="unanimous_success_692e98927641010d04354574_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1810512" cy="10184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✅ unanimous — SEG 1.00 · VLMs .96/.79/1.00. SAM 3 tracks hand, cup, saucer at 10 fps.</a:t>
            </a:r>
          </a:p>
        </p:txBody>
      </p:sp>
      <p:pic>
        <p:nvPicPr>
          <p:cNvPr id="9" name="Picture 8" descr="unanimous_failure_2026-01-11-23-11-22-998000_e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152" y="3108960"/>
            <a:ext cx="1810512" cy="13578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59152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❌ unanimous — SEG 0.00 · VLMs .00/.07/.00</a:t>
            </a:r>
          </a:p>
        </p:txBody>
      </p:sp>
      <p:pic>
        <p:nvPicPr>
          <p:cNvPr id="11" name="Picture 10" descr="disputed_seg_yes_vlm_split_692ea3beffdc0ca6345c4246_e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1104" y="3108960"/>
            <a:ext cx="1810512" cy="10184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61104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disputed — SEG 1.00, VLMs .32/.58/.00 → geometry carries it ✅</a:t>
            </a:r>
          </a:p>
        </p:txBody>
      </p:sp>
      <p:pic>
        <p:nvPicPr>
          <p:cNvPr id="13" name="Picture 12" descr="cup50_qwen_692e98927641010d04354574_meter_e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3108960"/>
            <a:ext cx="1810512" cy="1199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63056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the confidence meter: p(cup on saucer) per frame from Qwen logits, bar + sparkline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07492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50" b="1" i="0">
                <a:solidFill>
                  <a:srgbClr val="1982C4"/>
                </a:solidFill>
                <a:latin typeface="Calibri"/>
              </a:rPr>
              <a:t>SIDE EXPERIMENT · LABELLED ROBOT SLICE (VALIDATION)</a:t>
            </a:r>
          </a:p>
        </p:txBody>
      </p:sp>
      <p:pic>
        <p:nvPicPr>
          <p:cNvPr id="17" name="Picture 16" descr="eva_r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440680"/>
            <a:ext cx="1325880" cy="132588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65960" y="5440680"/>
          <a:ext cx="210312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"/>
                <a:gridCol w="548640"/>
              </a:tblGrid>
              <a:tr h="237744"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eva 10/10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acc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AUROC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VLM p(done)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111111"/>
                          </a:solidFill>
                        </a:rPr>
                        <a:t>0.83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SAM 3 cup-in-saucer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Fused + gripper veto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48640" y="6812280"/>
            <a:ext cx="35204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00" b="0" i="0">
                <a:solidFill>
                  <a:srgbClr val="555555"/>
                </a:solidFill>
                <a:latin typeface="Calibri"/>
              </a:rPr>
              <a:t>Gripper proprioception too: zero slips in all 10 failures — failures are hesitation, not drops.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507492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12064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50" b="1" i="0">
                <a:solidFill>
                  <a:srgbClr val="1982C4"/>
                </a:solidFill>
                <a:latin typeface="Calibri"/>
              </a:rPr>
              <a:t>SIDE EXPERIMENT · ONE 2-MIN EGOCENTRIC VIDEO, SPLIT</a:t>
            </a:r>
          </a:p>
        </p:txBody>
      </p:sp>
      <p:pic>
        <p:nvPicPr>
          <p:cNvPr id="22" name="Picture 21" descr="2025-11-24-23-59-28-546000_overlay_60pc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5440680"/>
            <a:ext cx="1737360" cy="1303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72200" y="5440680"/>
            <a:ext cx="173736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Aria head-cam: both hands, cup, saucer tracked by SAM 3. Segment on cup rests </a:t>
            </a:r>
            <a:r>
              <a:rPr sz="900" b="0" i="1">
                <a:solidFill>
                  <a:srgbClr val="111111"/>
                </a:solidFill>
                <a:latin typeface="Calibri"/>
              </a:rPr>
              <a:t>relative to the saucer</a:t>
            </a:r>
            <a:r>
              <a:rPr sz="900" b="0" i="0">
                <a:solidFill>
                  <a:srgbClr val="111111"/>
                </a:solidFill>
                <a:latin typeface="Calibri"/>
              </a:rPr>
              <a:t> (head motion cancels): </a:t>
            </a:r>
            <a:r>
              <a:rPr sz="900" b="1" i="0">
                <a:solidFill>
                  <a:srgbClr val="111111"/>
                </a:solidFill>
                <a:latin typeface="Calibri"/>
              </a:rPr>
              <a:t>25 attempts → 16 success / 9 failure</a:t>
            </a:r>
            <a:r>
              <a:rPr sz="900" b="0" i="0">
                <a:solidFill>
                  <a:srgbClr val="111111"/>
                </a:solidFill>
                <a:latin typeface="Calibri"/>
              </a:rPr>
              <a:t>, 16 returns not counted.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96012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JUDGING CRITERIA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243584"/>
            <a:ext cx="288036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280160"/>
            <a:ext cx="278892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✅ Does it run?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Every number here came out of a modal run in the repo today: 5 Modal apps, 3 VLMs × all 50 human clips, 20 robot episodes, 20 aria episodes. Overlay &amp; meter videos in demo/; graphs, ROC, per-episode verdicts regenerated by one script in results/.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338560" y="1243584"/>
            <a:ext cx="288036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1280160"/>
            <a:ext cx="278892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✅ Is it defensible?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Every choice has a check: gripper polarity verified on the wrist cam; arm frames verified by projecting onto the image; the model's actual top-5 tokens logged on every trace; thresholds fixed at 0.5, AUROC threshold-free; both scoring windows shown; disputed clips published, not hidden.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06324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WHAT WE LEARNED (AND CAN PROVE)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346704"/>
            <a:ext cx="58978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1. Ask about the goal state, not "was the task completed?"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Unanswerable from one frame — p(yes) sat at 10⁻⁴ everywhere while the ranking still worked (AUROC 0.73 → 0.83 after the fix). Smaller model, more literal question: PaliGemma hedged (0.28–0.65) on the generic prompt, decisive (0.07–0.97) on "is the cup resting on the saucer?". Only visible because we read logits.</a:t>
            </a:r>
          </a:p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2. Geometry and language disagree in useful ways.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Two disputed clips out of 50 are exactly the ones a human should look at; equal weighting means neither signal can outvote the other alone.</a:t>
            </a:r>
          </a:p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3. The unit of evaluation must match the video.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A cup50 clip is one attempt — score its end. An aria episode is 25 attempts — segment first (cup speed relative to the saucer), then score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5440680"/>
            <a:ext cx="5897880" cy="914400"/>
          </a:xfrm>
          <a:prstGeom prst="rect">
            <a:avLst/>
          </a:prstGeom>
          <a:solidFill>
            <a:srgbClr val="FAFAFA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5468112"/>
            <a:ext cx="580644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Why it scales to the prevalence problem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SAM 3 is text-prompted from the task description — no per-episode human seeding. VLM is one batched forward pass per sampled frame (16/pass, H100): 50 clips × 3 models in minutes. A full-dataset sweep is a .map() with per-stage GPUs.</a:t>
            </a:r>
          </a:p>
        </p:txBody>
      </p:sp>
      <p:pic>
        <p:nvPicPr>
          <p:cNvPr id="33" name="Picture 32" descr="preval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040" y="6446520"/>
            <a:ext cx="2103120" cy="1051560"/>
          </a:xfrm>
          <a:prstGeom prst="rect">
            <a:avLst/>
          </a:prstGeom>
        </p:spPr>
      </p:pic>
      <p:pic>
        <p:nvPicPr>
          <p:cNvPr id="34" name="Picture 33" descr="agreement_cup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07240" y="6446520"/>
            <a:ext cx="1183005" cy="10515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7680960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555555"/>
                </a:solidFill>
                <a:latin typeface="Consolas"/>
              </a:rPr>
              <a:t>github.com/AungKMin/modal-robotics-hackathon  ·  README → results/ → demo/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768096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SAM 3 · Qwen3-VL-8B · Cosmos-Reason2-8B · PaliGemma 2 · 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